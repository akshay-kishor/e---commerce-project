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70" r:id="rId4"/>
    <p:sldId id="275" r:id="rId5"/>
    <p:sldId id="269" r:id="rId6"/>
    <p:sldId id="258" r:id="rId7"/>
    <p:sldId id="261" r:id="rId8"/>
    <p:sldId id="259" r:id="rId9"/>
    <p:sldId id="260" r:id="rId10"/>
    <p:sldId id="262" r:id="rId11"/>
    <p:sldId id="264" r:id="rId12"/>
    <p:sldId id="265" r:id="rId13"/>
    <p:sldId id="273" r:id="rId14"/>
    <p:sldId id="274" r:id="rId15"/>
    <p:sldId id="272" r:id="rId16"/>
    <p:sldId id="276" r:id="rId17"/>
    <p:sldId id="277" r:id="rId18"/>
    <p:sldId id="266" r:id="rId19"/>
    <p:sldId id="267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475D8-F660-49E2-9C52-203BAE395551}" type="datetimeFigureOut">
              <a:rPr lang="en-IN" smtClean="0"/>
              <a:t>26-12-2024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2A06F-8D80-48D9-8094-67CFD4E59E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89286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475D8-F660-49E2-9C52-203BAE395551}" type="datetimeFigureOut">
              <a:rPr lang="en-IN" smtClean="0"/>
              <a:t>26-12-2024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2A06F-8D80-48D9-8094-67CFD4E59E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7201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475D8-F660-49E2-9C52-203BAE395551}" type="datetimeFigureOut">
              <a:rPr lang="en-IN" smtClean="0"/>
              <a:t>26-12-2024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2A06F-8D80-48D9-8094-67CFD4E59E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45162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475D8-F660-49E2-9C52-203BAE395551}" type="datetimeFigureOut">
              <a:rPr lang="en-IN" smtClean="0"/>
              <a:t>26-12-2024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2A06F-8D80-48D9-8094-67CFD4E59E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4679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475D8-F660-49E2-9C52-203BAE395551}" type="datetimeFigureOut">
              <a:rPr lang="en-IN" smtClean="0"/>
              <a:t>26-12-2024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2A06F-8D80-48D9-8094-67CFD4E59E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34047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475D8-F660-49E2-9C52-203BAE395551}" type="datetimeFigureOut">
              <a:rPr lang="en-IN" smtClean="0"/>
              <a:t>26-12-2024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2A06F-8D80-48D9-8094-67CFD4E59E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57532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475D8-F660-49E2-9C52-203BAE395551}" type="datetimeFigureOut">
              <a:rPr lang="en-IN" smtClean="0"/>
              <a:t>26-12-2024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2A06F-8D80-48D9-8094-67CFD4E59E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33987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475D8-F660-49E2-9C52-203BAE395551}" type="datetimeFigureOut">
              <a:rPr lang="en-IN" smtClean="0"/>
              <a:t>26-12-2024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2A06F-8D80-48D9-8094-67CFD4E59E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8439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475D8-F660-49E2-9C52-203BAE395551}" type="datetimeFigureOut">
              <a:rPr lang="en-IN" smtClean="0"/>
              <a:t>26-12-2024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2A06F-8D80-48D9-8094-67CFD4E59E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8447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475D8-F660-49E2-9C52-203BAE395551}" type="datetimeFigureOut">
              <a:rPr lang="en-IN" smtClean="0"/>
              <a:t>26-12-2024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2A06F-8D80-48D9-8094-67CFD4E59E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19236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475D8-F660-49E2-9C52-203BAE395551}" type="datetimeFigureOut">
              <a:rPr lang="en-IN" smtClean="0"/>
              <a:t>26-12-2024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2A06F-8D80-48D9-8094-67CFD4E59E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60923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475D8-F660-49E2-9C52-203BAE395551}" type="datetimeFigureOut">
              <a:rPr lang="en-IN" smtClean="0"/>
              <a:t>26-12-2024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2A06F-8D80-48D9-8094-67CFD4E59E61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215764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475D8-F660-49E2-9C52-203BAE395551}" type="datetimeFigureOut">
              <a:rPr lang="en-IN" smtClean="0"/>
              <a:t>26-12-2024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2A06F-8D80-48D9-8094-67CFD4E59E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04123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475D8-F660-49E2-9C52-203BAE395551}" type="datetimeFigureOut">
              <a:rPr lang="en-IN" smtClean="0"/>
              <a:t>26-12-2024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2A06F-8D80-48D9-8094-67CFD4E59E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23136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475D8-F660-49E2-9C52-203BAE395551}" type="datetimeFigureOut">
              <a:rPr lang="en-IN" smtClean="0"/>
              <a:t>26-12-2024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2A06F-8D80-48D9-8094-67CFD4E59E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3025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475D8-F660-49E2-9C52-203BAE395551}" type="datetimeFigureOut">
              <a:rPr lang="en-IN" smtClean="0"/>
              <a:t>26-12-2024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2A06F-8D80-48D9-8094-67CFD4E59E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31798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475D8-F660-49E2-9C52-203BAE395551}" type="datetimeFigureOut">
              <a:rPr lang="en-IN" smtClean="0"/>
              <a:t>26-12-2024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2A06F-8D80-48D9-8094-67CFD4E59E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887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630475D8-F660-49E2-9C52-203BAE395551}" type="datetimeFigureOut">
              <a:rPr lang="en-IN" smtClean="0"/>
              <a:t>26-12-2024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C2A06F-8D80-48D9-8094-67CFD4E59E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730256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sv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10" Type="http://schemas.openxmlformats.org/officeDocument/2006/relationships/image" Target="../media/image14.sv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B2CF5-8DCB-C56E-0346-7139C3B0B9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21554" y="868362"/>
            <a:ext cx="8791575" cy="2387600"/>
          </a:xfrm>
        </p:spPr>
        <p:txBody>
          <a:bodyPr>
            <a:normAutofit/>
          </a:bodyPr>
          <a:lstStyle/>
          <a:p>
            <a:pPr algn="ctr"/>
            <a:r>
              <a:rPr lang="en-US" sz="5200" b="1" dirty="0"/>
              <a:t>E-Commerce Analysis</a:t>
            </a:r>
            <a:endParaRPr lang="en-IN" sz="52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612C2D-01DC-E7F8-4B0F-A003D8A0C2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18554" y="3308556"/>
            <a:ext cx="4021393" cy="439020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By Akshay Kishor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2118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DA8697B-9862-D764-D5DD-3400698F0C46}"/>
              </a:ext>
            </a:extLst>
          </p:cNvPr>
          <p:cNvSpPr txBox="1"/>
          <p:nvPr/>
        </p:nvSpPr>
        <p:spPr>
          <a:xfrm>
            <a:off x="3854245" y="406296"/>
            <a:ext cx="45425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Contents</a:t>
            </a:r>
            <a:endParaRPr lang="en-IN" sz="32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7DA463D-337A-8E58-A3CB-8D720DFD973B}"/>
              </a:ext>
            </a:extLst>
          </p:cNvPr>
          <p:cNvSpPr txBox="1"/>
          <p:nvPr/>
        </p:nvSpPr>
        <p:spPr>
          <a:xfrm>
            <a:off x="7737987" y="1637164"/>
            <a:ext cx="3657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Customer Trend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4CBCC1-18B0-1FA4-EABF-6F00C7C9CDDF}"/>
              </a:ext>
            </a:extLst>
          </p:cNvPr>
          <p:cNvSpPr txBox="1"/>
          <p:nvPr/>
        </p:nvSpPr>
        <p:spPr>
          <a:xfrm>
            <a:off x="7737987" y="2396637"/>
            <a:ext cx="3657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Revenue Growth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FFABA1-3216-DA4F-C7EF-1912B17BD6DF}"/>
              </a:ext>
            </a:extLst>
          </p:cNvPr>
          <p:cNvSpPr txBox="1"/>
          <p:nvPr/>
        </p:nvSpPr>
        <p:spPr>
          <a:xfrm>
            <a:off x="7737987" y="3278310"/>
            <a:ext cx="3657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</a:t>
            </a:r>
            <a:r>
              <a:rPr lang="en-IN" dirty="0"/>
              <a:t>ogistics View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EF26870-AB4B-39CE-945C-3362FDDCD274}"/>
              </a:ext>
            </a:extLst>
          </p:cNvPr>
          <p:cNvSpPr txBox="1"/>
          <p:nvPr/>
        </p:nvSpPr>
        <p:spPr>
          <a:xfrm>
            <a:off x="7737987" y="4188754"/>
            <a:ext cx="3657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Dashboard</a:t>
            </a:r>
          </a:p>
        </p:txBody>
      </p:sp>
      <p:pic>
        <p:nvPicPr>
          <p:cNvPr id="16" name="Graphic 15" descr="Statistics with solid fill">
            <a:extLst>
              <a:ext uri="{FF2B5EF4-FFF2-40B4-BE49-F238E27FC236}">
                <a16:creationId xmlns:a16="http://schemas.microsoft.com/office/drawing/2014/main" id="{CFA417A6-DF7C-7D6A-9BB4-67266DF340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34981" y="1539629"/>
            <a:ext cx="564402" cy="564402"/>
          </a:xfrm>
          <a:prstGeom prst="rect">
            <a:avLst/>
          </a:prstGeom>
        </p:spPr>
      </p:pic>
      <p:pic>
        <p:nvPicPr>
          <p:cNvPr id="18" name="Graphic 17" descr="Business Growth with solid fill">
            <a:extLst>
              <a:ext uri="{FF2B5EF4-FFF2-40B4-BE49-F238E27FC236}">
                <a16:creationId xmlns:a16="http://schemas.microsoft.com/office/drawing/2014/main" id="{45906EE9-81CE-9EA5-7335-69B07B7D851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34981" y="2360412"/>
            <a:ext cx="564402" cy="56440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B330D89-A8B0-5E69-FEDE-9C0F2B98198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90564" y="1938924"/>
            <a:ext cx="3124471" cy="2415749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pic>
        <p:nvPicPr>
          <p:cNvPr id="9" name="Graphic 8" descr="Database with solid fill">
            <a:extLst>
              <a:ext uri="{FF2B5EF4-FFF2-40B4-BE49-F238E27FC236}">
                <a16:creationId xmlns:a16="http://schemas.microsoft.com/office/drawing/2014/main" id="{EBBB402A-D6D8-3EF4-F7E8-C48E6BFE077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034981" y="4072472"/>
            <a:ext cx="564402" cy="564402"/>
          </a:xfrm>
          <a:prstGeom prst="rect">
            <a:avLst/>
          </a:prstGeom>
        </p:spPr>
      </p:pic>
      <p:pic>
        <p:nvPicPr>
          <p:cNvPr id="13" name="Graphic 12" descr="Truck with solid fill">
            <a:extLst>
              <a:ext uri="{FF2B5EF4-FFF2-40B4-BE49-F238E27FC236}">
                <a16:creationId xmlns:a16="http://schemas.microsoft.com/office/drawing/2014/main" id="{274A7028-0AFD-8D55-E2AF-66F61D0691C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034981" y="3128601"/>
            <a:ext cx="600797" cy="600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39986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F7C06-2F1B-DAF7-F539-141B419D0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4873" y="465800"/>
            <a:ext cx="9404723" cy="638663"/>
          </a:xfrm>
        </p:spPr>
        <p:txBody>
          <a:bodyPr/>
          <a:lstStyle/>
          <a:p>
            <a:pPr algn="ctr"/>
            <a:r>
              <a:rPr lang="en-IN" sz="3200" b="1" dirty="0"/>
              <a:t>Problem Statement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37C784-683D-B291-33ED-8F55CF080F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9143" y="1511775"/>
            <a:ext cx="3095747" cy="459082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2BF2C7D-053B-BF04-3F41-BE4AA40489FC}"/>
              </a:ext>
            </a:extLst>
          </p:cNvPr>
          <p:cNvSpPr txBox="1"/>
          <p:nvPr/>
        </p:nvSpPr>
        <p:spPr>
          <a:xfrm>
            <a:off x="6695490" y="1624549"/>
            <a:ext cx="52012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Revenue YoY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5C005A-CDEF-B398-6F35-1E9AD268C462}"/>
              </a:ext>
            </a:extLst>
          </p:cNvPr>
          <p:cNvSpPr txBox="1"/>
          <p:nvPr/>
        </p:nvSpPr>
        <p:spPr>
          <a:xfrm>
            <a:off x="6695490" y="2513967"/>
            <a:ext cx="4709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Product Returns Impact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F4EE41-F7A6-2C09-1A00-4A87CF8B1B3A}"/>
              </a:ext>
            </a:extLst>
          </p:cNvPr>
          <p:cNvSpPr txBox="1"/>
          <p:nvPr/>
        </p:nvSpPr>
        <p:spPr>
          <a:xfrm>
            <a:off x="6695490" y="3403385"/>
            <a:ext cx="44933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Product Specific Revenue Loss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10E89E1-EB48-FAEE-C6ED-81FC59489CBF}"/>
              </a:ext>
            </a:extLst>
          </p:cNvPr>
          <p:cNvSpPr txBox="1"/>
          <p:nvPr/>
        </p:nvSpPr>
        <p:spPr>
          <a:xfrm>
            <a:off x="6695490" y="4292803"/>
            <a:ext cx="42576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Less Revenue Months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F29BAA-DD58-13CA-EBB5-8C9C58824B25}"/>
              </a:ext>
            </a:extLst>
          </p:cNvPr>
          <p:cNvSpPr txBox="1"/>
          <p:nvPr/>
        </p:nvSpPr>
        <p:spPr>
          <a:xfrm>
            <a:off x="6695490" y="5182221"/>
            <a:ext cx="41396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Region Wise Impact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67F5EA-3492-7EE4-37D0-EC5A40CEC7CF}"/>
              </a:ext>
            </a:extLst>
          </p:cNvPr>
          <p:cNvSpPr txBox="1"/>
          <p:nvPr/>
        </p:nvSpPr>
        <p:spPr>
          <a:xfrm>
            <a:off x="6695490" y="6071639"/>
            <a:ext cx="36922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Rating impact on Sales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256663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ECAABA8-E8D8-3852-EC2E-DD05A1117DF1}"/>
              </a:ext>
            </a:extLst>
          </p:cNvPr>
          <p:cNvSpPr txBox="1">
            <a:spLocks/>
          </p:cNvSpPr>
          <p:nvPr/>
        </p:nvSpPr>
        <p:spPr>
          <a:xfrm>
            <a:off x="1393638" y="344564"/>
            <a:ext cx="9404723" cy="60916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3200" b="1" dirty="0"/>
              <a:t>Methodologies Used</a:t>
            </a:r>
            <a:endParaRPr lang="en-IN" sz="32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8983E8-1651-3E76-7C7F-A27E50179B52}"/>
              </a:ext>
            </a:extLst>
          </p:cNvPr>
          <p:cNvSpPr txBox="1"/>
          <p:nvPr/>
        </p:nvSpPr>
        <p:spPr>
          <a:xfrm>
            <a:off x="6681187" y="1927123"/>
            <a:ext cx="4719484" cy="3460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Multiple DAX functions were used to compute the results, few of them listed below: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Related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DistinctCount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Calculate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Average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Countrows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Filter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SamePeriodLastYear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3211EE7-A8FD-6EFD-6245-E3ED1B42FC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476" y="1944329"/>
            <a:ext cx="5474583" cy="3391113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</p:spTree>
    <p:extLst>
      <p:ext uri="{BB962C8B-B14F-4D97-AF65-F5344CB8AC3E}">
        <p14:creationId xmlns:p14="http://schemas.microsoft.com/office/powerpoint/2010/main" val="19790029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2B669-5115-8359-109E-9AEF279EB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6214" y="305234"/>
            <a:ext cx="9404723" cy="609166"/>
          </a:xfrm>
        </p:spPr>
        <p:txBody>
          <a:bodyPr/>
          <a:lstStyle/>
          <a:p>
            <a:pPr algn="ctr"/>
            <a:r>
              <a:rPr lang="en-US" sz="3200" b="1" dirty="0"/>
              <a:t>Data Overview</a:t>
            </a:r>
            <a:endParaRPr lang="en-IN" sz="32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2F6DBE-7B0C-2120-07B1-1B41C029540F}"/>
              </a:ext>
            </a:extLst>
          </p:cNvPr>
          <p:cNvSpPr txBox="1"/>
          <p:nvPr/>
        </p:nvSpPr>
        <p:spPr>
          <a:xfrm>
            <a:off x="6735098" y="2349909"/>
            <a:ext cx="453267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There are 2 tables – Orders &amp; Customers.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For Data Cleaning – I removed Null from Location, </a:t>
            </a:r>
            <a:r>
              <a:rPr lang="en-US" dirty="0" err="1"/>
              <a:t>ProductCategory</a:t>
            </a:r>
            <a:r>
              <a:rPr lang="en-US" dirty="0"/>
              <a:t> &amp; Unit Price column in Orders table</a:t>
            </a:r>
            <a:endParaRPr lang="en-IN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14288283-4343-6C24-EEF2-AA4C4D2335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762" y="2116582"/>
            <a:ext cx="6254125" cy="3199785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484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128DF5F-F9B7-406A-A1C4-1504C745DC25}"/>
              </a:ext>
            </a:extLst>
          </p:cNvPr>
          <p:cNvSpPr txBox="1"/>
          <p:nvPr/>
        </p:nvSpPr>
        <p:spPr>
          <a:xfrm>
            <a:off x="1966452" y="403123"/>
            <a:ext cx="82394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Customer’s Trend</a:t>
            </a:r>
            <a:endParaRPr lang="en-IN" sz="32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DC2969-65C5-ED17-627E-72047D001809}"/>
              </a:ext>
            </a:extLst>
          </p:cNvPr>
          <p:cNvSpPr txBox="1"/>
          <p:nvPr/>
        </p:nvSpPr>
        <p:spPr>
          <a:xfrm>
            <a:off x="7418438" y="2189052"/>
            <a:ext cx="36084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In year 2020 there has been the best count of customers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30B5E4-A4EC-BA2C-EE02-F48C0D144D0A}"/>
              </a:ext>
            </a:extLst>
          </p:cNvPr>
          <p:cNvSpPr txBox="1"/>
          <p:nvPr/>
        </p:nvSpPr>
        <p:spPr>
          <a:xfrm>
            <a:off x="7418438" y="3663740"/>
            <a:ext cx="395748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There is a 42% hike in customer count when compared with 2015 to 2020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8CA2942B-0CDA-12A1-9EF9-8DC9F92413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749" y="1700980"/>
            <a:ext cx="5919020" cy="3824749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239547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615045F5-FBFE-CA0A-467A-0A6E9B64A5B6}"/>
              </a:ext>
            </a:extLst>
          </p:cNvPr>
          <p:cNvSpPr txBox="1"/>
          <p:nvPr/>
        </p:nvSpPr>
        <p:spPr>
          <a:xfrm>
            <a:off x="1966452" y="403123"/>
            <a:ext cx="82394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Revenue Growth</a:t>
            </a:r>
            <a:endParaRPr lang="en-IN" sz="32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D7DAD02-7386-351E-A70E-C08B284389EF}"/>
              </a:ext>
            </a:extLst>
          </p:cNvPr>
          <p:cNvSpPr txBox="1"/>
          <p:nvPr/>
        </p:nvSpPr>
        <p:spPr>
          <a:xfrm>
            <a:off x="8318091" y="2389240"/>
            <a:ext cx="282185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Most Revenue Growth is seen in the month of March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Least Impact seen in the month of June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C7D9A998-474F-2E3E-765F-162BE97835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051" y="2195100"/>
            <a:ext cx="6603283" cy="2643507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99785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3292EC0-A493-8C02-9087-B809EDA4C426}"/>
              </a:ext>
            </a:extLst>
          </p:cNvPr>
          <p:cNvSpPr txBox="1"/>
          <p:nvPr/>
        </p:nvSpPr>
        <p:spPr>
          <a:xfrm>
            <a:off x="1966452" y="403123"/>
            <a:ext cx="82394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Logistics View</a:t>
            </a:r>
            <a:endParaRPr lang="en-IN" sz="32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D22BAB-5DA6-5FC9-45F9-C523818E371B}"/>
              </a:ext>
            </a:extLst>
          </p:cNvPr>
          <p:cNvSpPr txBox="1"/>
          <p:nvPr/>
        </p:nvSpPr>
        <p:spPr>
          <a:xfrm>
            <a:off x="7714328" y="2478536"/>
            <a:ext cx="359860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Most delivery time is taken for the category “Shipped from Abroad”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Least delivery time is taken by the Express</a:t>
            </a:r>
          </a:p>
        </p:txBody>
      </p:sp>
      <p:pic>
        <p:nvPicPr>
          <p:cNvPr id="5124" name="Picture 4">
            <a:extLst>
              <a:ext uri="{FF2B5EF4-FFF2-40B4-BE49-F238E27FC236}">
                <a16:creationId xmlns:a16="http://schemas.microsoft.com/office/drawing/2014/main" id="{075F84B3-50A4-77E8-8EDD-A8C5EA3413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065" y="2045916"/>
            <a:ext cx="6377141" cy="312501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91575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1B022C0-FA5E-24BE-9E4D-28D6F475CA76}"/>
              </a:ext>
            </a:extLst>
          </p:cNvPr>
          <p:cNvSpPr txBox="1"/>
          <p:nvPr/>
        </p:nvSpPr>
        <p:spPr>
          <a:xfrm>
            <a:off x="2045111" y="344128"/>
            <a:ext cx="82394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Revenue YoY</a:t>
            </a:r>
            <a:endParaRPr lang="en-IN" sz="32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83A099-8845-C7AC-2EC5-ADB251AAD51A}"/>
              </a:ext>
            </a:extLst>
          </p:cNvPr>
          <p:cNvSpPr txBox="1"/>
          <p:nvPr/>
        </p:nvSpPr>
        <p:spPr>
          <a:xfrm>
            <a:off x="7570839" y="2690336"/>
            <a:ext cx="359860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Best Revenue year has been 2020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2016 &amp; 2018 has seen the least revenue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641C767-5C1B-9E51-372D-5AECAA7109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8672" y="1687288"/>
            <a:ext cx="6748336" cy="3483424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</p:spTree>
    <p:extLst>
      <p:ext uri="{BB962C8B-B14F-4D97-AF65-F5344CB8AC3E}">
        <p14:creationId xmlns:p14="http://schemas.microsoft.com/office/powerpoint/2010/main" val="1441270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38BACDCC-AFC5-537C-DD46-FDE1182327F7}"/>
              </a:ext>
            </a:extLst>
          </p:cNvPr>
          <p:cNvSpPr txBox="1"/>
          <p:nvPr/>
        </p:nvSpPr>
        <p:spPr>
          <a:xfrm>
            <a:off x="2074607" y="353961"/>
            <a:ext cx="82394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Product Return Impact</a:t>
            </a:r>
            <a:endParaRPr lang="en-IN" sz="32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2F1BFE-C9EE-3480-1663-91214383ABDF}"/>
              </a:ext>
            </a:extLst>
          </p:cNvPr>
          <p:cNvSpPr txBox="1"/>
          <p:nvPr/>
        </p:nvSpPr>
        <p:spPr>
          <a:xfrm>
            <a:off x="7984271" y="1779638"/>
            <a:ext cx="33528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Wrong, missing &amp; Defective Item contributes to 18K of returned products which means 58% of the total return%.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Whereas by specifying accurately about the product in the description we can reduce about 42% of the returns,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C9006E9-5646-2CF6-72F0-5D57D0E9FA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775" y="2255460"/>
            <a:ext cx="6715909" cy="2937015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19347749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80FC786-7566-425D-0B64-B36B57F213E0}"/>
              </a:ext>
            </a:extLst>
          </p:cNvPr>
          <p:cNvSpPr txBox="1"/>
          <p:nvPr/>
        </p:nvSpPr>
        <p:spPr>
          <a:xfrm>
            <a:off x="1976284" y="176980"/>
            <a:ext cx="82394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Product Specific Revenue Impact</a:t>
            </a:r>
            <a:endParaRPr lang="en-IN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78A7BC-4006-2B13-5C91-5D2ADF2792A2}"/>
              </a:ext>
            </a:extLst>
          </p:cNvPr>
          <p:cNvSpPr txBox="1"/>
          <p:nvPr/>
        </p:nvSpPr>
        <p:spPr>
          <a:xfrm>
            <a:off x="7885471" y="2546556"/>
            <a:ext cx="343145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These products have the less share in overall revenue.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To increase their sales, we will have to implement offers like Trade-in Discounts, EMI Offers, free Extended Warranties, </a:t>
            </a:r>
            <a:r>
              <a:rPr lang="en-US" dirty="0" err="1"/>
              <a:t>etc</a:t>
            </a:r>
            <a:endParaRPr lang="en-IN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46A42060-7FF7-2168-137A-6E10B97A75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091" y="2133599"/>
            <a:ext cx="6854746" cy="3097161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42581202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BD69A42-500D-54E6-F9A4-5FB08393A082}"/>
              </a:ext>
            </a:extLst>
          </p:cNvPr>
          <p:cNvSpPr txBox="1"/>
          <p:nvPr/>
        </p:nvSpPr>
        <p:spPr>
          <a:xfrm>
            <a:off x="1976284" y="108155"/>
            <a:ext cx="82394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Less Revenue Months</a:t>
            </a:r>
            <a:endParaRPr lang="en-IN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A0D22C-09ED-8870-9DDF-01B5DC4276CF}"/>
              </a:ext>
            </a:extLst>
          </p:cNvPr>
          <p:cNvSpPr txBox="1"/>
          <p:nvPr/>
        </p:nvSpPr>
        <p:spPr>
          <a:xfrm>
            <a:off x="8072284" y="2527675"/>
            <a:ext cx="315615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i="0" u="none" strike="noStrike" dirty="0">
                <a:effectLst/>
                <a:latin typeface="+mj-lt"/>
              </a:rPr>
              <a:t>June, September and November are the months with less revenue so we should plan promotional offers in this period</a:t>
            </a:r>
            <a:endParaRPr lang="en-IN" dirty="0">
              <a:latin typeface="+mj-lt"/>
            </a:endParaRP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2072474D-B6B5-2DE0-4CD9-62BCB3F59E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165" y="1859081"/>
            <a:ext cx="7425119" cy="313983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142016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72501-D1C6-D744-D59B-2B5711DC4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2421" y="452718"/>
            <a:ext cx="9404723" cy="579669"/>
          </a:xfrm>
        </p:spPr>
        <p:txBody>
          <a:bodyPr/>
          <a:lstStyle/>
          <a:p>
            <a:pPr algn="ctr"/>
            <a:r>
              <a:rPr lang="en-US" sz="3200" b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Region Wise Impact</a:t>
            </a:r>
            <a:endParaRPr lang="en-IN" sz="3200" b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27EA6C5-A77C-9125-9D58-B3BD422A57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168" y="1853381"/>
            <a:ext cx="7035645" cy="3552884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F9E4154-E0EF-0D5F-3B2A-259EBBC91B7F}"/>
              </a:ext>
            </a:extLst>
          </p:cNvPr>
          <p:cNvSpPr txBox="1"/>
          <p:nvPr/>
        </p:nvSpPr>
        <p:spPr>
          <a:xfrm>
            <a:off x="8072284" y="2527675"/>
            <a:ext cx="315615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i="0" u="none" strike="noStrike" dirty="0">
                <a:effectLst/>
                <a:latin typeface="+mj-lt"/>
              </a:rPr>
              <a:t>Major business is from Africa continent – focus should be more towards Asian and European continent</a:t>
            </a:r>
            <a:endParaRPr lang="en-IN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3749324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FA4AF55-721C-29B8-4999-90809A94B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2008" y="452439"/>
            <a:ext cx="8369147" cy="688104"/>
          </a:xfrm>
        </p:spPr>
        <p:txBody>
          <a:bodyPr/>
          <a:lstStyle/>
          <a:p>
            <a:pPr algn="ctr"/>
            <a:r>
              <a:rPr lang="en-US" sz="3200" b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Rating Impact on Sales</a:t>
            </a:r>
            <a:endParaRPr lang="en-IN" sz="3200" b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8A4E60C0-9634-027A-EFB7-D7DD0E0AF3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238" y="1788395"/>
            <a:ext cx="6609453" cy="3963476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E3998B3-3708-8E9F-F6C8-65DE2C53D297}"/>
              </a:ext>
            </a:extLst>
          </p:cNvPr>
          <p:cNvSpPr txBox="1"/>
          <p:nvPr/>
        </p:nvSpPr>
        <p:spPr>
          <a:xfrm>
            <a:off x="7964130" y="2527675"/>
            <a:ext cx="326431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</a:rPr>
              <a:t>Ratings has shown no direct impact on sales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latin typeface="+mj-lt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</a:rPr>
              <a:t> Less rated items had the most sales across every categories</a:t>
            </a:r>
            <a:endParaRPr lang="en-IN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5383034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C1F49B5-3089-490F-8F9F-7BE872901E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106" y="747644"/>
            <a:ext cx="9991862" cy="5504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76372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A8CD7C-2E90-8816-2612-4B5042F995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1E5DCD-3E0B-E808-65F8-CF91A5858F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544" y="695208"/>
            <a:ext cx="9844618" cy="5467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02373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1C02FC3-33F2-F5E0-466F-EB5D0DDC8F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143" y="813301"/>
            <a:ext cx="9785012" cy="5414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1928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1A6D76E-851B-DD72-39E7-28DE668853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6644" y="424224"/>
            <a:ext cx="4178709" cy="75564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2E92FC4-C4A4-3E0C-771F-A5859144391D}"/>
              </a:ext>
            </a:extLst>
          </p:cNvPr>
          <p:cNvSpPr txBox="1"/>
          <p:nvPr/>
        </p:nvSpPr>
        <p:spPr>
          <a:xfrm>
            <a:off x="1865670" y="2109018"/>
            <a:ext cx="846065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have to focus in increasing sales in specific months like June, September and November.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have found that there is Express is the fastest mode of delivery.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Certain set of products needs to be targeted to increase the sales impact in overall revenue – but introducing new schemes.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Returns needs to be reduced and this can be done by improving the quality of the products and providing correct description of products in website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199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6C46F3-D0C6-96DD-C88F-7EE6C823C9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7465" y="2062674"/>
            <a:ext cx="9905999" cy="313859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8000" b="1" dirty="0">
                <a:solidFill>
                  <a:schemeClr val="bg1"/>
                </a:solidFill>
              </a:rPr>
              <a:t>THANK YOU</a:t>
            </a:r>
            <a:endParaRPr lang="en-IN" sz="8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207183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1131</TotalTime>
  <Words>403</Words>
  <Application>Microsoft Office PowerPoint</Application>
  <PresentationFormat>Widescreen</PresentationFormat>
  <Paragraphs>69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Century Gothic</vt:lpstr>
      <vt:lpstr>Wingdings 3</vt:lpstr>
      <vt:lpstr>Ion</vt:lpstr>
      <vt:lpstr>E-Commerce Analysis</vt:lpstr>
      <vt:lpstr>PowerPoint Presentation</vt:lpstr>
      <vt:lpstr>Problem Statement</vt:lpstr>
      <vt:lpstr>PowerPoint Presentation</vt:lpstr>
      <vt:lpstr>Data Overview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Region Wise Impact</vt:lpstr>
      <vt:lpstr>Rating Impact on Sales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akshaykishor111@outlook.com</dc:creator>
  <cp:lastModifiedBy>akshaykishor111@outlook.com</cp:lastModifiedBy>
  <cp:revision>10</cp:revision>
  <dcterms:created xsi:type="dcterms:W3CDTF">2024-10-22T05:52:49Z</dcterms:created>
  <dcterms:modified xsi:type="dcterms:W3CDTF">2024-12-26T04:57:43Z</dcterms:modified>
</cp:coreProperties>
</file>